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829b33c55_0_1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f829b33c55_0_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18029" y="461899"/>
            <a:ext cx="7155941" cy="696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88340" y="1509941"/>
            <a:ext cx="6337300" cy="1782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jpg"/><Relationship Id="rId5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304800" y="1643500"/>
            <a:ext cx="11082000" cy="24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000">
                <a:latin typeface="Times New Roman"/>
                <a:ea typeface="Times New Roman"/>
                <a:cs typeface="Times New Roman"/>
                <a:sym typeface="Times New Roman"/>
              </a:rPr>
              <a:t>The Role of Artificial Intelligence and Machine Learning in Cloud Platforms</a:t>
            </a:r>
            <a:endParaRPr b="1"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7"/>
          <p:cNvSpPr txBox="1"/>
          <p:nvPr/>
        </p:nvSpPr>
        <p:spPr>
          <a:xfrm>
            <a:off x="1141603" y="2819400"/>
            <a:ext cx="9372600" cy="24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NIVASINI VM (192511356)</a:t>
            </a:r>
            <a:endParaRPr/>
          </a:p>
          <a:p>
            <a:pPr indent="0" lvl="0" marL="12700" marR="50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CSA1511</a:t>
            </a: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:CLOUD COMPUTING AND BIG DATA ANALYTICS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17/07/2026</a:t>
            </a:r>
            <a:endParaRPr/>
          </a:p>
          <a:p>
            <a:pPr indent="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rgbClr val="98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Presentation</a:t>
            </a:r>
            <a:endParaRPr sz="2200">
              <a:solidFill>
                <a:srgbClr val="98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" name="Google Shape;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465365"/>
            <a:ext cx="11277600" cy="9062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807375" y="400975"/>
            <a:ext cx="4886400" cy="7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600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4600"/>
          </a:p>
        </p:txBody>
      </p:sp>
      <p:sp>
        <p:nvSpPr>
          <p:cNvPr id="51" name="Google Shape;51;p8"/>
          <p:cNvSpPr txBox="1"/>
          <p:nvPr/>
        </p:nvSpPr>
        <p:spPr>
          <a:xfrm>
            <a:off x="192676" y="1585750"/>
            <a:ext cx="12115800" cy="42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047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Artificial Intelligence (AI) enables computers to perform tasks that normally require human intelligence.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 (ML) is a subset of AI that allows systems to learn from data and improve automatically.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platforms provide computing power, storage, and AI tools over the internet.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AI/ML with cloud computing enables scalable, cost-effective, and intelligent applications.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2" name="Google Shape;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762000" y="118242"/>
            <a:ext cx="9982200" cy="6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239014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>
                <a:latin typeface="Times New Roman"/>
                <a:ea typeface="Times New Roman"/>
                <a:cs typeface="Times New Roman"/>
                <a:sym typeface="Times New Roman"/>
              </a:rPr>
              <a:t>Core Technical Explanation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" name="Google Shape;59;p9"/>
          <p:cNvSpPr txBox="1"/>
          <p:nvPr/>
        </p:nvSpPr>
        <p:spPr>
          <a:xfrm>
            <a:off x="555725" y="808850"/>
            <a:ext cx="11280300" cy="61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 Workflow in Cloud Platforms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Data Collection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data from IoT devices, sensors, websites, mobile apps, and databases.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Cloud Storage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 large datasets securely using cloud storage services.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Data Processing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Clean, transform, and prepare data for machine learning.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Model Training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ML models using cloud CPUs, GPUs, or TPUs.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Model Evaluation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the model for accuracy and optimize performance.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Model Deployment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I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the trained model as a cloud service or API.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3429000" y="363750"/>
            <a:ext cx="7236300" cy="9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AI/ML Cloud</a:t>
            </a:r>
            <a: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  <a:t> Architecture</a:t>
            </a:r>
            <a:br>
              <a:rPr b="1" lang="en-IN" sz="3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947050" y="1699419"/>
            <a:ext cx="51054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Data Sources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     ↓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Cloud Storage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     ↓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Data Processing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     ↓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Machine Learning Model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     ↓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Model Deployment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      ↓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000">
                <a:latin typeface="Times New Roman"/>
                <a:ea typeface="Times New Roman"/>
                <a:cs typeface="Times New Roman"/>
                <a:sym typeface="Times New Roman"/>
              </a:rPr>
              <a:t>Applications &amp; Users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0"/>
          <p:cNvSpPr txBox="1"/>
          <p:nvPr/>
        </p:nvSpPr>
        <p:spPr>
          <a:xfrm>
            <a:off x="6763400" y="2873276"/>
            <a:ext cx="54507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Storage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Processing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Deployment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Monitoring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7" name="Google Shape;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4203" y="179819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725" y="1304725"/>
            <a:ext cx="10350026" cy="527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/>
        </p:nvSpPr>
        <p:spPr>
          <a:xfrm>
            <a:off x="1371600" y="2209800"/>
            <a:ext cx="9982200" cy="4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</a:t>
            </a:r>
            <a:endParaRPr b="1"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Scalable computing resources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Reduced infrastructure cost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Faster model development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High-performance GPUs and TPUs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deployment of AI applications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updates and maintenance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collaboration among teams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844800" y="1300675"/>
            <a:ext cx="11347200" cy="13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Benefits of AI/ML in Cloud Platforms</a:t>
            </a:r>
            <a:endParaRPr b="1" sz="3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69500" y="415388"/>
            <a:ext cx="11489100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30035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500">
                <a:latin typeface="Times New Roman"/>
                <a:ea typeface="Times New Roman"/>
                <a:cs typeface="Times New Roman"/>
                <a:sym typeface="Times New Roman"/>
              </a:rPr>
              <a:t>Real-World Applications</a:t>
            </a:r>
            <a:endParaRPr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31266" y="1828800"/>
            <a:ext cx="6096000" cy="52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Healthcare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Disease diagnosis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image analysis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Patient monitoring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Banking &amp; Finance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Fraud detection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Credit scoring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 analysis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Retail &amp; E-Commerce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recommendations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behavior analysis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Demand forecasting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41375" y="1958850"/>
            <a:ext cx="4114800" cy="51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Manufacturing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maintenance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inspection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 automation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Transportation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Traffic prediction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 optimization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Autonomous driving support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Education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learning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tutoring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I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grading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>
            <p:ph type="title"/>
          </p:nvPr>
        </p:nvSpPr>
        <p:spPr>
          <a:xfrm>
            <a:off x="225300" y="436450"/>
            <a:ext cx="117414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3300">
                <a:latin typeface="Times New Roman"/>
                <a:ea typeface="Times New Roman"/>
                <a:cs typeface="Times New Roman"/>
                <a:sym typeface="Times New Roman"/>
              </a:rPr>
              <a:t>Use Case – AI-Based Fraud Detection</a:t>
            </a:r>
            <a:endParaRPr b="1" sz="3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6111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419101" y="2057400"/>
            <a:ext cx="9986100" cy="40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Millions of online transactions occur every day.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●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fraud detection is slow and inaccurate.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 Cloud Solution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initiates an online transaction.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data is uploaded to the cloud.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 model analyzes transaction patterns.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Suspicious transactions are identified instantly.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AutoNum type="arabicPeriod"/>
            </a:pPr>
            <a:r>
              <a:rPr lang="en-I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 approves or blocks the transaction.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type="title"/>
          </p:nvPr>
        </p:nvSpPr>
        <p:spPr>
          <a:xfrm>
            <a:off x="1752600" y="738871"/>
            <a:ext cx="79773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78359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67850" y="2430949"/>
            <a:ext cx="112014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and Machine Learning are transforming cloud platforms by enabling intelligent, data-driven applications.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AI/ML services provide scalable, secure, and cost-effective solutions for businesses.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Industries such as healthcare, banking, retail, manufacturing, and education benefit from AI-powered automation and decision-making.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 in the cloud improves efficiency, accuracy, and real-time insights while reducing operational costs.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●"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 cloud technology continues to evolve, AI and ML will play a key role in driving innovation and digital transformation across industries.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302100" y="1643575"/>
            <a:ext cx="11587800" cy="47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3700" lvl="1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2600"/>
              <a:buFont typeface="Times New Roman"/>
              <a:buChar char="○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Data privacy and security concerns.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○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High cost of training large AI models.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○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Dependence on a stable internet connection.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○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Large datasets require significant storage and bandwidth.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○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AI models may produce biased or inaccurate results.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○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Compliance with data protection regulations can be challenging.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○"/>
            </a:pPr>
            <a:r>
              <a:rPr lang="en-IN" sz="2600">
                <a:latin typeface="Times New Roman"/>
                <a:ea typeface="Times New Roman"/>
                <a:cs typeface="Times New Roman"/>
                <a:sym typeface="Times New Roman"/>
              </a:rPr>
              <a:t>Requires skilled professionals to develop and manage AI solutions.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1171902" y="618800"/>
            <a:ext cx="906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500"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r>
              <a:rPr b="1" lang="en-IN" sz="4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4203" y="179819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/>
          <p:nvPr>
            <p:ph type="title"/>
          </p:nvPr>
        </p:nvSpPr>
        <p:spPr>
          <a:xfrm>
            <a:off x="4445875" y="920975"/>
            <a:ext cx="6361200" cy="538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500"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b="1" sz="3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747450" y="2077500"/>
            <a:ext cx="9766800" cy="4889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Growth of </a:t>
            </a: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Generative AI</a:t>
            </a: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 for content creation and automation.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Increased adoption of </a:t>
            </a: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Edge AI</a:t>
            </a: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 with cloud integration.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Wider use of </a:t>
            </a: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AutoML</a:t>
            </a: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 for automated model development.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Expansion of </a:t>
            </a: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Explainable AI (XAI)</a:t>
            </a: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 for transparent decision-making.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Improved cloud security using AI-powered threat detection.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Greater adoption across healthcare, finance, education, and smart cities.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46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Integration with </a:t>
            </a: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IoT</a:t>
            </a: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5G</a:t>
            </a: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IN" sz="2300">
                <a:latin typeface="Times New Roman"/>
                <a:ea typeface="Times New Roman"/>
                <a:cs typeface="Times New Roman"/>
                <a:sym typeface="Times New Roman"/>
              </a:rPr>
              <a:t>Big Data</a:t>
            </a:r>
            <a:r>
              <a:rPr lang="en-IN" sz="2300">
                <a:latin typeface="Times New Roman"/>
                <a:ea typeface="Times New Roman"/>
                <a:cs typeface="Times New Roman"/>
                <a:sym typeface="Times New Roman"/>
              </a:rPr>
              <a:t> for real-time intelligent applications.</a:t>
            </a:r>
            <a:endParaRPr sz="23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/>
          <p:nvPr>
            <p:ph type="title"/>
          </p:nvPr>
        </p:nvSpPr>
        <p:spPr>
          <a:xfrm>
            <a:off x="3365976" y="2667000"/>
            <a:ext cx="6235224" cy="12445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0">
                <a:latin typeface="Times New Roman"/>
                <a:ea typeface="Times New Roman"/>
                <a:cs typeface="Times New Roman"/>
                <a:sym typeface="Times New Roman"/>
              </a:rPr>
              <a:t>Thank You!!!</a:t>
            </a:r>
            <a:endParaRPr sz="8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352" y="191643"/>
            <a:ext cx="1103582" cy="13428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14203" y="191643"/>
            <a:ext cx="1520062" cy="1342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